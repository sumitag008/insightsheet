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5" d="100"/>
          <a:sy n="145" d="100"/>
        </p:scale>
        <p:origin x="62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93B"/>
                </a:solidFill>
                <a:latin typeface="Arial"/>
              </a:rPr>
              <a:t>Marketing Funnel (Monthly Targets)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Funnel</c:v>
                </c:pt>
              </c:strCache>
            </c:strRef>
          </c:tx>
          <c:spPr>
            <a:solidFill>
              <a:srgbClr val="0F4C8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Website Visitors</c:v>
                </c:pt>
                <c:pt idx="1">
                  <c:v>MQLs</c:v>
                </c:pt>
                <c:pt idx="2">
                  <c:v>SQLs</c:v>
                </c:pt>
                <c:pt idx="3">
                  <c:v>Opportunities</c:v>
                </c:pt>
                <c:pt idx="4">
                  <c:v>Closed Won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10000</c:v>
                </c:pt>
                <c:pt idx="1">
                  <c:v>500</c:v>
                </c:pt>
                <c:pt idx="2">
                  <c:v>125</c:v>
                </c:pt>
                <c:pt idx="3">
                  <c:v>60</c:v>
                </c:pt>
                <c:pt idx="4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C51-48B5-8AE8-59F215699F0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79990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Shape 1"/>
          <p:cNvSpPr/>
          <p:nvPr/>
        </p:nvSpPr>
        <p:spPr>
          <a:xfrm>
            <a:off x="3840480" y="0"/>
            <a:ext cx="109728" cy="5143500"/>
          </a:xfrm>
          <a:prstGeom prst="rect">
            <a:avLst/>
          </a:prstGeom>
          <a:solidFill>
            <a:srgbClr val="00A3E0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5029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meldra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645920" y="5029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.ai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11480" y="1188720"/>
            <a:ext cx="2560320" cy="0"/>
          </a:xfrm>
          <a:prstGeom prst="line">
            <a:avLst/>
          </a:prstGeom>
          <a:noFill/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46304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Marketing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11480" y="2029968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Lead Generation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11480" y="274320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DD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framework for acquiring, nurturing,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DD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converting high-quality leads at scale.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11480" y="44805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insight.meldra.ai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434840" y="1371600"/>
            <a:ext cx="4480560" cy="91440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94A3B8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34840" y="1371600"/>
            <a:ext cx="64008" cy="91440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13" name="Text 11"/>
          <p:cNvSpPr/>
          <p:nvPr/>
        </p:nvSpPr>
        <p:spPr>
          <a:xfrm>
            <a:off x="4617720" y="1481328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3.7×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5715000" y="157276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ROI from AI marketing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34840" y="2514600"/>
            <a:ext cx="4480560" cy="91440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94A3B8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434840" y="2514600"/>
            <a:ext cx="64008" cy="914400"/>
          </a:xfrm>
          <a:prstGeom prst="rect">
            <a:avLst/>
          </a:prstGeom>
          <a:solidFill>
            <a:srgbClr val="00A3E0"/>
          </a:solidFill>
          <a:ln/>
        </p:spPr>
      </p:sp>
      <p:sp>
        <p:nvSpPr>
          <p:cNvPr id="17" name="Text 15"/>
          <p:cNvSpPr/>
          <p:nvPr/>
        </p:nvSpPr>
        <p:spPr>
          <a:xfrm>
            <a:off x="4617720" y="2624328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715000" y="271576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lead acquisition cost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434840" y="3657600"/>
            <a:ext cx="4480560" cy="91440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94A3B8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434840" y="3657600"/>
            <a:ext cx="64008" cy="914400"/>
          </a:xfrm>
          <a:prstGeom prst="rect">
            <a:avLst/>
          </a:prstGeom>
          <a:solidFill>
            <a:srgbClr val="00C49A"/>
          </a:solidFill>
          <a:ln/>
        </p:spPr>
      </p:sp>
      <p:sp>
        <p:nvSpPr>
          <p:cNvPr id="21" name="Text 19"/>
          <p:cNvSpPr/>
          <p:nvPr/>
        </p:nvSpPr>
        <p:spPr>
          <a:xfrm>
            <a:off x="4617720" y="3767328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5715000" y="385876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conversion rates with AI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0" y="46634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Strategy Deck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94A3B8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73152" cy="1097280"/>
          </a:xfrm>
          <a:prstGeom prst="rect">
            <a:avLst/>
          </a:prstGeom>
          <a:solidFill>
            <a:srgbClr val="00A3E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1556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43000" y="111556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Strategy Overview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" y="15361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Brand, positioning &amp; channel mix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228600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94A3B8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286000"/>
            <a:ext cx="73152" cy="1097280"/>
          </a:xfrm>
          <a:prstGeom prst="rect">
            <a:avLst/>
          </a:prstGeom>
          <a:solidFill>
            <a:srgbClr val="00C49A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39572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143000" y="239572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Marketing Channels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43000" y="281635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SEO, paid, social &amp; content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56616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94A3B8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566160"/>
            <a:ext cx="73152" cy="10972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67588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143000" y="367588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Generation Framework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43000" y="40965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&amp; outbound playbooks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937760" y="100584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94A3B8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37760" y="1005840"/>
            <a:ext cx="73152" cy="10972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1" name="Text 19"/>
          <p:cNvSpPr/>
          <p:nvPr/>
        </p:nvSpPr>
        <p:spPr>
          <a:xfrm>
            <a:off x="5120640" y="111556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715000" y="111556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Lead Scoring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715000" y="15361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 &amp; qualify automatically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937760" y="228600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94A3B8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937760" y="2286000"/>
            <a:ext cx="73152" cy="1097280"/>
          </a:xfrm>
          <a:prstGeom prst="rect">
            <a:avLst/>
          </a:prstGeom>
          <a:solidFill>
            <a:srgbClr val="00A3E0"/>
          </a:solidFill>
          <a:ln/>
        </p:spPr>
      </p:sp>
      <p:sp>
        <p:nvSpPr>
          <p:cNvPr id="26" name="Text 24"/>
          <p:cNvSpPr/>
          <p:nvPr/>
        </p:nvSpPr>
        <p:spPr>
          <a:xfrm>
            <a:off x="5120640" y="239572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715000" y="239572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Nurture &amp; Conversion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715000" y="281635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flows, CRM &amp; automation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937760" y="356616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94A3B8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937760" y="3566160"/>
            <a:ext cx="73152" cy="1097280"/>
          </a:xfrm>
          <a:prstGeom prst="rect">
            <a:avLst/>
          </a:prstGeom>
          <a:solidFill>
            <a:srgbClr val="00C49A"/>
          </a:solidFill>
          <a:ln/>
        </p:spPr>
      </p:sp>
      <p:sp>
        <p:nvSpPr>
          <p:cNvPr id="31" name="Text 29"/>
          <p:cNvSpPr/>
          <p:nvPr/>
        </p:nvSpPr>
        <p:spPr>
          <a:xfrm>
            <a:off x="5120640" y="367588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715000" y="367588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Optimisation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715000" y="40965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KPIs, reporting &amp; iteration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Marketing Strategy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3474720" cy="68580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601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&amp; brand visibility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31520" y="1920240"/>
            <a:ext cx="2926080" cy="685800"/>
          </a:xfrm>
          <a:prstGeom prst="rect">
            <a:avLst/>
          </a:prstGeom>
          <a:solidFill>
            <a:srgbClr val="00A3E0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9202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3317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engagement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005840" y="2880360"/>
            <a:ext cx="2377440" cy="685800"/>
          </a:xfrm>
          <a:prstGeom prst="rect">
            <a:avLst/>
          </a:prstGeom>
          <a:solidFill>
            <a:srgbClr val="00C49A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8803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05840" y="32918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qualification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280160" y="3840480"/>
            <a:ext cx="1828800" cy="6858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4" name="Text 12"/>
          <p:cNvSpPr/>
          <p:nvPr/>
        </p:nvSpPr>
        <p:spPr>
          <a:xfrm>
            <a:off x="1280160" y="38404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280160" y="42519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&amp; onboard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389120" y="960120"/>
            <a:ext cx="457200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94A3B8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389120" y="960120"/>
            <a:ext cx="64008" cy="91440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0" y="103327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Positioning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0" y="134416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Meldra.ai's unique value in the AI insights market — clarity, speed &amp; actionable intelligence.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389120" y="1984248"/>
            <a:ext cx="457200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94A3B8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389120" y="1984248"/>
            <a:ext cx="64008" cy="914400"/>
          </a:xfrm>
          <a:prstGeom prst="rect">
            <a:avLst/>
          </a:prstGeom>
          <a:solidFill>
            <a:srgbClr val="00A3E0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0" y="20574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Audience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0" y="236829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CMOs, Growth &amp; RevOps leaders at B2B SaaS companies (50–1000 employees, $5M–$200M ARR).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389120" y="3008376"/>
            <a:ext cx="457200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94A3B8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389120" y="3008376"/>
            <a:ext cx="64008" cy="914400"/>
          </a:xfrm>
          <a:prstGeom prst="rect">
            <a:avLst/>
          </a:prstGeom>
          <a:solidFill>
            <a:srgbClr val="00C49A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0" y="308152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Messaging Framework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0" y="339242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Pain-point led messaging: reduce manual reporting time, surface revenue insights faster.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389120" y="4032504"/>
            <a:ext cx="457200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94A3B8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389120" y="4032504"/>
            <a:ext cx="64008" cy="9144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0" y="4105656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Mix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0" y="441655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search + LinkedIn (20%), organic/SEO (30%), content (25%), partnerships (25%).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Digital Marketing Channels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94A3B8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4114800" cy="50292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&amp; Organic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91840" y="10515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Budget: 30%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clusters around AI analytics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8470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Long-form thought leadership blog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13969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SEO for product pages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43230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markup &amp; Core Web Vitals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09160" y="96012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94A3B8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960120"/>
            <a:ext cx="4114800" cy="502920"/>
          </a:xfrm>
          <a:prstGeom prst="rect">
            <a:avLst/>
          </a:prstGeom>
          <a:solidFill>
            <a:srgbClr val="00A3E0"/>
          </a:solidFill>
          <a:ln/>
        </p:spPr>
      </p:sp>
      <p:sp>
        <p:nvSpPr>
          <p:cNvPr id="14" name="Text 12"/>
          <p:cNvSpPr/>
          <p:nvPr/>
        </p:nvSpPr>
        <p:spPr>
          <a:xfrm>
            <a:off x="4892040" y="10058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Search &amp; Display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26680" y="10515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Budget: 20%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92040" y="15544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Ads: intent-based campaigns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92040" y="18470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Retargeting via Display Network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92040" y="213969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Sponsored Content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92040" y="243230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G2/Capterra review ads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97180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94A3B8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971800"/>
            <a:ext cx="4114800" cy="502920"/>
          </a:xfrm>
          <a:prstGeom prst="rect">
            <a:avLst/>
          </a:prstGeom>
          <a:solidFill>
            <a:srgbClr val="00C49A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0175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&amp; Community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91840" y="30632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Budget: 25%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3566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organic + paid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38587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Twitter/X thought leadership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415137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Slack/Discord community building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444398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Influencer &amp; analyst relations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09160" y="297180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94A3B8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09160" y="2971800"/>
            <a:ext cx="4114800" cy="5029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0" name="Text 28"/>
          <p:cNvSpPr/>
          <p:nvPr/>
        </p:nvSpPr>
        <p:spPr>
          <a:xfrm>
            <a:off x="4892040" y="30175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Marketing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726680" y="30632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Budget: 25%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92040" y="3566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insight newsletter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92040" y="38587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studies &amp; ROI reports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92040" y="415137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Webinars &amp; virtual events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92040" y="444398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Podcast sponsorships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Lead Generation Framework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3931920" cy="475488"/>
          </a:xfrm>
          <a:prstGeom prst="rect">
            <a:avLst/>
          </a:prstGeom>
          <a:solidFill>
            <a:srgbClr val="00A3E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LEAD GENERATION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3931920" cy="77724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463040"/>
            <a:ext cx="64008" cy="777240"/>
          </a:xfrm>
          <a:prstGeom prst="rect">
            <a:avLst/>
          </a:prstGeom>
          <a:solidFill>
            <a:srgbClr val="00A3E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5087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Gated Content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17830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Whitepapers, ROI calculators, benchmark reports – capture email + company data.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2350008"/>
            <a:ext cx="3931920" cy="77724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350008"/>
            <a:ext cx="64008" cy="777240"/>
          </a:xfrm>
          <a:prstGeom prst="rect">
            <a:avLst/>
          </a:prstGeom>
          <a:solidFill>
            <a:srgbClr val="00A3E0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3957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Landing Pages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" y="267004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Optimised pages targeting high-intent keywords ('AI marketing analytics', 'revenue intelligence').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3236976"/>
            <a:ext cx="3931920" cy="77724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3236976"/>
            <a:ext cx="64008" cy="777240"/>
          </a:xfrm>
          <a:prstGeom prst="rect">
            <a:avLst/>
          </a:prstGeom>
          <a:solidFill>
            <a:srgbClr val="00A3E0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28269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Trial / Freemium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3557016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Product-led growth: self-serve sign-up with upgrade prompts at value moments.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4123944"/>
            <a:ext cx="3931920" cy="77724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4123944"/>
            <a:ext cx="64008" cy="777240"/>
          </a:xfrm>
          <a:prstGeom prst="rect">
            <a:avLst/>
          </a:prstGeom>
          <a:solidFill>
            <a:srgbClr val="00A3E0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16966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Webinar &amp; Events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4443984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demos and industry panels – register with work email for CRM capture.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892040" y="914400"/>
            <a:ext cx="3931920" cy="47548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3" name="Text 21"/>
          <p:cNvSpPr/>
          <p:nvPr/>
        </p:nvSpPr>
        <p:spPr>
          <a:xfrm>
            <a:off x="4892040" y="91440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LEAD GENERATION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92040" y="1463040"/>
            <a:ext cx="3931920" cy="777240"/>
          </a:xfrm>
          <a:prstGeom prst="rect">
            <a:avLst/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92040" y="1463040"/>
            <a:ext cx="64008" cy="7772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6" name="Text 24"/>
          <p:cNvSpPr/>
          <p:nvPr/>
        </p:nvSpPr>
        <p:spPr>
          <a:xfrm>
            <a:off x="5074920" y="15087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ICP Prospecting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074920" y="17830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Ideal Customer Profile by firmographic &amp; technographic filters using intent data.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892040" y="2350008"/>
            <a:ext cx="3931920" cy="777240"/>
          </a:xfrm>
          <a:prstGeom prst="rect">
            <a:avLst/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92040" y="2350008"/>
            <a:ext cx="64008" cy="7772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0" name="Text 28"/>
          <p:cNvSpPr/>
          <p:nvPr/>
        </p:nvSpPr>
        <p:spPr>
          <a:xfrm>
            <a:off x="5074920" y="23957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Email Sequences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074920" y="267004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5-touch personalised sequences using AI copy variants; A/B test subject lines.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892040" y="3236976"/>
            <a:ext cx="3931920" cy="777240"/>
          </a:xfrm>
          <a:prstGeom prst="rect">
            <a:avLst/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92040" y="3236976"/>
            <a:ext cx="64008" cy="7772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4" name="Text 32"/>
          <p:cNvSpPr/>
          <p:nvPr/>
        </p:nvSpPr>
        <p:spPr>
          <a:xfrm>
            <a:off x="5074920" y="328269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Outreach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074920" y="3557016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→ value message → case study → call; use Sales Navigator for targeting.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892040" y="4123944"/>
            <a:ext cx="3931920" cy="777240"/>
          </a:xfrm>
          <a:prstGeom prst="rect">
            <a:avLst/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92040" y="4123944"/>
            <a:ext cx="64008" cy="7772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8" name="Text 36"/>
          <p:cNvSpPr/>
          <p:nvPr/>
        </p:nvSpPr>
        <p:spPr>
          <a:xfrm>
            <a:off x="5074920" y="416966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ABM Campaigns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074920" y="4443984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Account-Based Marketing for top-tier accounts: custom landing pages + personalised ads.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206240" y="25603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AI-Powered Lead Scoring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Meldra.ai Scores &amp; Prioritises Leads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1554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94A3B8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463040"/>
            <a:ext cx="548640" cy="548640"/>
          </a:xfrm>
          <a:prstGeom prst="ellipse">
            <a:avLst/>
          </a:prstGeom>
          <a:solidFill>
            <a:srgbClr val="0F4C81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205740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Capture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93192" y="2395728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behavioural, firmographic &amp; intent signals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892808" y="2103120"/>
            <a:ext cx="155448" cy="0"/>
          </a:xfrm>
          <a:prstGeom prst="line">
            <a:avLst/>
          </a:prstGeom>
          <a:noFill/>
          <a:ln w="25400">
            <a:solidFill>
              <a:srgbClr val="00A3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57400" y="1417320"/>
            <a:ext cx="1554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94A3B8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0" y="1463040"/>
            <a:ext cx="548640" cy="548640"/>
          </a:xfrm>
          <a:prstGeom prst="ellipse">
            <a:avLst/>
          </a:prstGeom>
          <a:solidFill>
            <a:srgbClr val="0F4C81"/>
          </a:solidFill>
          <a:ln/>
        </p:spPr>
      </p:sp>
      <p:sp>
        <p:nvSpPr>
          <p:cNvPr id="13" name="Text 11"/>
          <p:cNvSpPr/>
          <p:nvPr/>
        </p:nvSpPr>
        <p:spPr>
          <a:xfrm>
            <a:off x="256032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148840" y="205740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Enrichment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30552" y="2395728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Auto-enrich with 3rd party data (Clearbit, ZoomInfo)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630168" y="2103120"/>
            <a:ext cx="155448" cy="0"/>
          </a:xfrm>
          <a:prstGeom prst="line">
            <a:avLst/>
          </a:prstGeom>
          <a:noFill/>
          <a:ln w="25400">
            <a:solidFill>
              <a:srgbClr val="00A3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94760" y="1417320"/>
            <a:ext cx="1554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94A3B8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297680" y="1463040"/>
            <a:ext cx="548640" cy="548640"/>
          </a:xfrm>
          <a:prstGeom prst="ellipse">
            <a:avLst/>
          </a:prstGeom>
          <a:solidFill>
            <a:srgbClr val="0F4C81"/>
          </a:solidFill>
          <a:ln/>
        </p:spPr>
      </p:sp>
      <p:sp>
        <p:nvSpPr>
          <p:cNvPr id="19" name="Text 17"/>
          <p:cNvSpPr/>
          <p:nvPr/>
        </p:nvSpPr>
        <p:spPr>
          <a:xfrm>
            <a:off x="429768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886200" y="205740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Model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867912" y="2395728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weights engagement + fit + timing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67528" y="2103120"/>
            <a:ext cx="155448" cy="0"/>
          </a:xfrm>
          <a:prstGeom prst="line">
            <a:avLst/>
          </a:prstGeom>
          <a:noFill/>
          <a:ln w="25400">
            <a:solidFill>
              <a:srgbClr val="00A3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532120" y="1417320"/>
            <a:ext cx="1554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94A3B8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35040" y="1463040"/>
            <a:ext cx="548640" cy="548640"/>
          </a:xfrm>
          <a:prstGeom prst="ellipse">
            <a:avLst/>
          </a:prstGeom>
          <a:solidFill>
            <a:srgbClr val="0F4C81"/>
          </a:solidFill>
          <a:ln/>
        </p:spPr>
      </p:sp>
      <p:sp>
        <p:nvSpPr>
          <p:cNvPr id="25" name="Text 23"/>
          <p:cNvSpPr/>
          <p:nvPr/>
        </p:nvSpPr>
        <p:spPr>
          <a:xfrm>
            <a:off x="603504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623560" y="205740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&amp; Route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605272" y="2395728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Hot/Warm/Cold buckets → SDR or nurture flow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104888" y="2103120"/>
            <a:ext cx="155448" cy="0"/>
          </a:xfrm>
          <a:prstGeom prst="line">
            <a:avLst/>
          </a:prstGeom>
          <a:noFill/>
          <a:ln w="25400">
            <a:solidFill>
              <a:srgbClr val="00A3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269480" y="1417320"/>
            <a:ext cx="1554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94A3B8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772400" y="1463040"/>
            <a:ext cx="548640" cy="548640"/>
          </a:xfrm>
          <a:prstGeom prst="ellipse">
            <a:avLst/>
          </a:prstGeom>
          <a:solidFill>
            <a:srgbClr val="0F4C81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360920" y="205740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Sync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342632" y="2395728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HubSpot/Salesforce with full context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57200" y="29718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Scoring Criteria</a:t>
            </a:r>
            <a:endParaRPr lang="en-US" sz="13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383280"/>
          <a:ext cx="8229600" cy="146304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 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Firmographic Fit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Company size, industry, tech stack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Behavioural / Intent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Pricing page visit, demo request, email open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Engagement Score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clicks, webinar attendance, content downloads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Timing Signal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 change, funding round, category search spike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Nurture &amp; Conversion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Nurture Tracks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353312"/>
            <a:ext cx="4114800" cy="777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353312"/>
            <a:ext cx="64008" cy="777240"/>
          </a:xfrm>
          <a:prstGeom prst="rect">
            <a:avLst/>
          </a:prstGeom>
          <a:solidFill>
            <a:srgbClr val="00A3E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40817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Track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0: Welcome + product tour → Day 3: Case study → Day 7: Demo invite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2240280"/>
            <a:ext cx="4114800" cy="777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2240280"/>
            <a:ext cx="64008" cy="777240"/>
          </a:xfrm>
          <a:prstGeom prst="rect">
            <a:avLst/>
          </a:prstGeom>
          <a:solidFill>
            <a:srgbClr val="00C49A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29514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Trial-to-Paid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257860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nudges → Feature spotlight → ROI proof → Upgrade CTA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3127248"/>
            <a:ext cx="4114800" cy="777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3127248"/>
            <a:ext cx="64008" cy="7772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1821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Re-engagement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346557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Win-back email → Exclusive offer → Final breakup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4014216"/>
            <a:ext cx="4114800" cy="777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4014216"/>
            <a:ext cx="64008" cy="7772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0690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 Track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435254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Upsell at 60-day → Referral ask → Review request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754880" y="91440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Tactics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1353312"/>
            <a:ext cx="411480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13990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Demo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00600" y="168249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 demo to ICP pain points using pre-call research; connect to their KPIs.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63440" y="2103120"/>
            <a:ext cx="411480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21488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Extension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00600" y="243230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7-day extension triggered by high engagement but no upgrade.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63440" y="2852928"/>
            <a:ext cx="411480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28986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Calculator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00600" y="31821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tool showing $ value of time saved vs. current manual process.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63440" y="3602736"/>
            <a:ext cx="411480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364845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Proof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00600" y="39319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case study badges, G2 ratings and customer logos on pricing page.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63440" y="4352544"/>
            <a:ext cx="411480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0600" y="439826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</a:t>
            </a: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&amp; Incentive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800600" y="46817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Time-limited onboarding discount + dedicated customer success rep offer.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Analytics &amp; Optimisation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1920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94A3B8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1920240" cy="64008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51560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500+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74320" y="15727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Leads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74320" y="181051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MQLs per month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450592" y="960120"/>
            <a:ext cx="1920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94A3B8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50592" y="960120"/>
            <a:ext cx="1920240" cy="64008"/>
          </a:xfrm>
          <a:prstGeom prst="rect">
            <a:avLst/>
          </a:prstGeom>
          <a:solidFill>
            <a:srgbClr val="00A3E0"/>
          </a:solidFill>
          <a:ln/>
        </p:spPr>
      </p:sp>
      <p:sp>
        <p:nvSpPr>
          <p:cNvPr id="11" name="Text 9"/>
          <p:cNvSpPr/>
          <p:nvPr/>
        </p:nvSpPr>
        <p:spPr>
          <a:xfrm>
            <a:off x="2450592" y="1051560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450592" y="15727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Lead-to-MQL Rate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450592" y="181051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avg: 22%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626864" y="960120"/>
            <a:ext cx="1920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94A3B8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26864" y="960120"/>
            <a:ext cx="1920240" cy="64008"/>
          </a:xfrm>
          <a:prstGeom prst="rect">
            <a:avLst/>
          </a:prstGeom>
          <a:solidFill>
            <a:srgbClr val="00C49A"/>
          </a:solidFill>
          <a:ln/>
        </p:spPr>
      </p:sp>
      <p:sp>
        <p:nvSpPr>
          <p:cNvPr id="16" name="Text 14"/>
          <p:cNvSpPr/>
          <p:nvPr/>
        </p:nvSpPr>
        <p:spPr>
          <a:xfrm>
            <a:off x="4626864" y="1051560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626864" y="15727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MQL-to-SQL Rate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626864" y="181051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avg: 13%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803136" y="960120"/>
            <a:ext cx="1920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94A3B8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03136" y="960120"/>
            <a:ext cx="1920240" cy="6400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1" name="Text 19"/>
          <p:cNvSpPr/>
          <p:nvPr/>
        </p:nvSpPr>
        <p:spPr>
          <a:xfrm>
            <a:off x="6803136" y="1051560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$180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803136" y="15727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Target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803136" y="181051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&lt; 6 months</a:t>
            </a:r>
            <a:endParaRPr lang="en-US" sz="850" dirty="0"/>
          </a:p>
        </p:txBody>
      </p:sp>
      <p:graphicFrame>
        <p:nvGraphicFramePr>
          <p:cNvPr id="24" name="Chart 0"/>
          <p:cNvGraphicFramePr/>
          <p:nvPr/>
        </p:nvGraphicFramePr>
        <p:xfrm>
          <a:off x="274320" y="2240280"/>
          <a:ext cx="502920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5" name="Text 22"/>
          <p:cNvSpPr/>
          <p:nvPr/>
        </p:nvSpPr>
        <p:spPr>
          <a:xfrm>
            <a:off x="5577840" y="224028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Cadence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5577840" y="2651760"/>
            <a:ext cx="33832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650992" y="2724912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6583680" y="272491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spend pacing, lead volume, SDR activity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5577840" y="3182112"/>
            <a:ext cx="33832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650992" y="3255264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6583680" y="3255264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performance, A/B test results, pipeline coverage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5577840" y="3712464"/>
            <a:ext cx="33832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650992" y="3785616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6583680" y="3785616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funnel review, CAC/LTV, cohort retention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5577840" y="4242816"/>
            <a:ext cx="33832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650992" y="4315968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6583680" y="431596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review, budget reallocation, OKR check-in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Action Plan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743200" cy="3977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94A3B8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2743200" cy="594360"/>
          </a:xfrm>
          <a:prstGeom prst="rect">
            <a:avLst/>
          </a:prstGeom>
          <a:solidFill>
            <a:srgbClr val="00A3E0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93268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1–30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84048" y="11704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38912" y="1572768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existing website traffic &amp; lead sources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38912" y="2066544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CRM (HubSpot/Salesforce) + lead scoring model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38912" y="256032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2 gated content pieces (whitepaper + calculator)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3054096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Google Ads &amp; LinkedIn Sponsored campaigns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38912" y="354787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ICP list of 500 target accounts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0" y="914400"/>
            <a:ext cx="2743200" cy="3977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94A3B8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914400"/>
            <a:ext cx="2743200" cy="594360"/>
          </a:xfrm>
          <a:prstGeom prst="rect">
            <a:avLst/>
          </a:prstGeom>
          <a:solidFill>
            <a:srgbClr val="00C49A"/>
          </a:solidFill>
          <a:ln/>
        </p:spPr>
      </p:sp>
      <p:sp>
        <p:nvSpPr>
          <p:cNvPr id="15" name="Text 13"/>
          <p:cNvSpPr/>
          <p:nvPr/>
        </p:nvSpPr>
        <p:spPr>
          <a:xfrm>
            <a:off x="3310128" y="93268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31–60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310128" y="11704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364992" y="1572768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cold email outreach (250 emails/week)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364992" y="2066544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4 SEO articles targeting high-intent keywords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364992" y="256032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first webinar with 150+ registrant target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364992" y="3054096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nurture email sequences (3 tracks)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364992" y="354787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 landing page headlines &amp; CTAs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126480" y="914400"/>
            <a:ext cx="2743200" cy="3977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94A3B8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26480" y="914400"/>
            <a:ext cx="2743200" cy="5943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4" name="Text 22"/>
          <p:cNvSpPr/>
          <p:nvPr/>
        </p:nvSpPr>
        <p:spPr>
          <a:xfrm>
            <a:off x="6236208" y="93268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61–90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236208" y="11704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291072" y="1572768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first full funnel report; double down on winners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291072" y="2066544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ABM campaign for top 50 accounts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291072" y="256032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 AI lead scoring with real conversion data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291072" y="3054096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content: add 2 case studies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291072" y="354787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reset Q2 targets based on CAC actuals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0" y="0"/>
            <a:ext cx="91440" cy="5143500"/>
          </a:xfrm>
          <a:prstGeom prst="rect">
            <a:avLst/>
          </a:prstGeom>
          <a:solidFill>
            <a:srgbClr val="00A3E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meldra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828800" y="4572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.ai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115568"/>
            <a:ext cx="2926080" cy="0"/>
          </a:xfrm>
          <a:prstGeom prst="line">
            <a:avLst/>
          </a:prstGeom>
          <a:noFill/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98448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grow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pipeline?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269748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DD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personalised demo and see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DD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Meldra.ai transforms your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DD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&amp; lead generation.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46634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insight.meldra.ai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663440" y="777240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663440" y="1371600"/>
            <a:ext cx="4114800" cy="1051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94A3B8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627632"/>
            <a:ext cx="548640" cy="548640"/>
          </a:xfrm>
          <a:prstGeom prst="ellipse">
            <a:avLst/>
          </a:prstGeom>
          <a:solidFill>
            <a:srgbClr val="0F4C81"/>
          </a:solidFill>
          <a:ln/>
        </p:spPr>
      </p:sp>
      <p:sp>
        <p:nvSpPr>
          <p:cNvPr id="13" name="Text 11"/>
          <p:cNvSpPr/>
          <p:nvPr/>
        </p:nvSpPr>
        <p:spPr>
          <a:xfrm>
            <a:off x="4709160" y="16276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49240" y="148132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Demo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49240" y="184708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30-min personalised walkthrough tailored to your marketing stack.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2560320"/>
            <a:ext cx="4114800" cy="1051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94A3B8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816352"/>
            <a:ext cx="548640" cy="548640"/>
          </a:xfrm>
          <a:prstGeom prst="ellipse">
            <a:avLst/>
          </a:prstGeom>
          <a:solidFill>
            <a:srgbClr val="0F4C81"/>
          </a:solidFill>
          <a:ln/>
        </p:spPr>
      </p:sp>
      <p:sp>
        <p:nvSpPr>
          <p:cNvPr id="18" name="Text 16"/>
          <p:cNvSpPr/>
          <p:nvPr/>
        </p:nvSpPr>
        <p:spPr>
          <a:xfrm>
            <a:off x="4709160" y="28163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49240" y="267004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Free Trial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349240" y="303580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14-day full-access trial — no credit card required.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3749040"/>
            <a:ext cx="4114800" cy="1051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94A3B8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4005072"/>
            <a:ext cx="548640" cy="548640"/>
          </a:xfrm>
          <a:prstGeom prst="ellipse">
            <a:avLst/>
          </a:prstGeom>
          <a:solidFill>
            <a:srgbClr val="0F4C81"/>
          </a:solidFill>
          <a:ln/>
        </p:spPr>
      </p:sp>
      <p:sp>
        <p:nvSpPr>
          <p:cNvPr id="23" name="Text 21"/>
          <p:cNvSpPr/>
          <p:nvPr/>
        </p:nvSpPr>
        <p:spPr>
          <a:xfrm>
            <a:off x="4709160" y="40050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49240" y="385876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to Sales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349240" y="422452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enterprise pricing, integrations &amp; onboarding support.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1071</Words>
  <Application>Microsoft Office PowerPoint</Application>
  <PresentationFormat>On-screen Show (16:9)</PresentationFormat>
  <Paragraphs>222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Meldra.ai – Marketing &amp; Lead Generation</dc:title>
  <dc:subject>PptxGenJS Presentation</dc:subject>
  <dc:creator>PptxGenJS</dc:creator>
  <cp:lastModifiedBy>Sumit A</cp:lastModifiedBy>
  <cp:revision>1</cp:revision>
  <dcterms:created xsi:type="dcterms:W3CDTF">2026-02-28T23:00:19Z</dcterms:created>
  <dcterms:modified xsi:type="dcterms:W3CDTF">2026-03-01T00:02:04Z</dcterms:modified>
</cp:coreProperties>
</file>