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Excel Charts &amp; Data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A78BFA"/>
                </a:solidFill>
              </a:defRPr>
            </a:pPr>
            <a:r>
              <a:t>Ch_01_ChartEssentials_test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41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DataSelection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A78BFA"/>
                </a:solidFill>
              </a:defRPr>
            </a:pPr>
            <a:r>
              <a:t>1 chart(s) • 23 rows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DataSelection - Data Overview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914400"/>
          <a:ext cx="84124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</a:tblGrid>
              <a:tr h="25146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World-wide Sales - Millions of Dollars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% of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Domestic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189.0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0.33064516129032256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526.0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0.2120967741935484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Asia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737.0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0.2971774193548387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Latin America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397.0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0.16008064516129034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311.0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409.0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401.0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435.0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2480.0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77.75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102.25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108.75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151.0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169.0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193.0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035040"/>
            <a:ext cx="8412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748B"/>
                </a:solidFill>
              </a:defRPr>
            </a:pPr>
            <a:r>
              <a:t>Showing 20 of 23 rows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41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ChartData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A78BFA"/>
                </a:solidFill>
              </a:defRPr>
            </a:pPr>
            <a:r>
              <a:t>1 chart(s) • 53 rows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ChartData - Data Overview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914400"/>
          <a:ext cx="84124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</a:tblGrid>
              <a:tr h="25146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Sports Division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World-wide Sales - Millions of Dollars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% of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Domestic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180.0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785.0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0.33052631578947367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0.21473684210526317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Asia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0.29894736842105263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Latin America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370.0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0.15578947368421053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290.0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390.0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385.0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490.0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2375.0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96.25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593.75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035040"/>
            <a:ext cx="8412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748B"/>
                </a:solidFill>
              </a:defRPr>
            </a:pPr>
            <a:r>
              <a:t>Showing 20 of 53 rows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</a:defRPr>
            </a:pPr>
            <a:r>
              <a:t>ChartData - Sports Division</a:t>
            </a:r>
          </a:p>
        </p:txBody>
      </p:sp>
      <p:pic>
        <p:nvPicPr>
          <p:cNvPr id="3" name="Picture 2" descr="chart_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9308432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41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ColumnChart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A78BFA"/>
                </a:solidFill>
              </a:defRPr>
            </a:pPr>
            <a:r>
              <a:t>6 chart(s) • 11 rows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ColumnChart - Data Overview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914400"/>
          <a:ext cx="84124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</a:tblGrid>
              <a:tr h="4572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Taylor Associates Home Products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World-wide Sales - Millions of Dollars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% of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Domestic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180.0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785.0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0.33052631578947367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0.21473684210526317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Asia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0.29894736842105263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Latin America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370.0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0.15578947368421053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290.0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390.0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385.0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490.0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2375.0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96.25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593.75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</a:defRPr>
            </a:pPr>
            <a:r>
              <a:t>ColumnChart - Taylor Associates Home Products</a:t>
            </a:r>
          </a:p>
        </p:txBody>
      </p:sp>
      <p:pic>
        <p:nvPicPr>
          <p:cNvPr id="3" name="Picture 2" descr="chart_3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7978758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</a:defRPr>
            </a:pPr>
            <a:r>
              <a:t>ColumnChart - Taylor Associates Home Products</a:t>
            </a:r>
          </a:p>
        </p:txBody>
      </p:sp>
      <p:pic>
        <p:nvPicPr>
          <p:cNvPr id="3" name="Picture 2" descr="chart_3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6786067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</a:defRPr>
            </a:pPr>
            <a:r>
              <a:t>ColumnChart - Taylor Associates Home Products</a:t>
            </a:r>
          </a:p>
        </p:txBody>
      </p:sp>
      <p:pic>
        <p:nvPicPr>
          <p:cNvPr id="3" name="Picture 2" descr="chart_3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7950672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</a:defRPr>
            </a:pPr>
            <a:r>
              <a:t>ColumnChart - Taylor Associates Home Products</a:t>
            </a:r>
          </a:p>
        </p:txBody>
      </p:sp>
      <p:pic>
        <p:nvPicPr>
          <p:cNvPr id="3" name="Picture 2" descr="chart_3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7868907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</a:defRPr>
            </a:pPr>
            <a:r>
              <a:t>ColumnChart - Taylor Associates Home Products</a:t>
            </a:r>
          </a:p>
        </p:txBody>
      </p:sp>
      <p:pic>
        <p:nvPicPr>
          <p:cNvPr id="3" name="Picture 2" descr="chart_3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7967455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41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Line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A78BFA"/>
                </a:solidFill>
              </a:defRPr>
            </a:pPr>
            <a:r>
              <a:t>1 chart(s) • 34 rows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Line Chart - Data Overview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914400"/>
          <a:ext cx="84124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</a:tblGrid>
              <a:tr h="25146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Month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Sales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2018-01-01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1592398.0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January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June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Home Product Sales - January 2018 - June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2018-02-01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1597197.0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2018-03-01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1666080.0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2018-04-01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2484340.0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2018-05-01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2669994.0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2018-06-01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5081937.0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2018-07-01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3360840.0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2018-08-01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6989238.0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2018-09-01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7729650.0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2018-10-01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6038549.0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2018-11-01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5484312.0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2018-12-01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8551452.0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2019-01-01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8238174.0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2019-02-01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8831025.0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2019-03-01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6924096.0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2019-04-01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13085376.0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2019-05-01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8230572.0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2019-06-01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12352014.0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2019-07-01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8246180.0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035040"/>
            <a:ext cx="8412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748B"/>
                </a:solidFill>
              </a:defRPr>
            </a:pPr>
            <a:r>
              <a:t>Showing 20 of 34 rows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</a:defRPr>
            </a:pPr>
            <a:r>
              <a:t>Line Chart - Home Product Sales - January 2018 - June 2020</a:t>
            </a:r>
          </a:p>
        </p:txBody>
      </p:sp>
      <p:pic>
        <p:nvPicPr>
          <p:cNvPr id="3" name="Picture 2" descr="chart_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071197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41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PieChart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A78BFA"/>
                </a:solidFill>
              </a:defRPr>
            </a:pPr>
            <a:r>
              <a:t>3 chart(s) • 11 rows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PieChart - Data Overview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914400"/>
          <a:ext cx="84124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</a:tblGrid>
              <a:tr h="4572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World-wide Sales - Millions of Dollars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% of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Domestic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180.0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785.0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0.33052631578947367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0.21473684210526317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Asia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0.29894736842105263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Latin America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370.0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0.15578947368421053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290.0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390.0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385.0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490.0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2375.0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96.25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593.75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</a:defRPr>
            </a:pPr>
            <a:r>
              <a:t>PieChart - Domestic  Sales in Millions</a:t>
            </a:r>
          </a:p>
        </p:txBody>
      </p:sp>
      <p:pic>
        <p:nvPicPr>
          <p:cNvPr id="3" name="Picture 2" descr="chart_5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1294628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</a:defRPr>
            </a:pPr>
            <a:r>
              <a:t>PieChart - Domestic  Sales in Millions</a:t>
            </a:r>
          </a:p>
        </p:txBody>
      </p:sp>
      <p:pic>
        <p:nvPicPr>
          <p:cNvPr id="3" name="Picture 2" descr="chart_5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94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41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BarChart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A78BFA"/>
                </a:solidFill>
              </a:defRPr>
            </a:pPr>
            <a:r>
              <a:t>5 chart(s) • 11 rows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BarChart - Data Overview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914400"/>
          <a:ext cx="84124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</a:tblGrid>
              <a:tr h="4572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Sports Division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World-wide Sales - Millions of Dollars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% of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Domestic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180.0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785.0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0.33052631578947367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0.21473684210526317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Asia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0.29894736842105263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Latin America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370.0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0.15578947368421053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290.0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390.0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385.0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490.0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2375.0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96.25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593.75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</a:defRPr>
            </a:pPr>
            <a:r>
              <a:t>BarChart - Sports Division</a:t>
            </a:r>
          </a:p>
        </p:txBody>
      </p:sp>
      <p:pic>
        <p:nvPicPr>
          <p:cNvPr id="3" name="Picture 2" descr="chart_6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920507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</a:defRPr>
            </a:pPr>
            <a:r>
              <a:t>BarChart - Sports Division</a:t>
            </a:r>
          </a:p>
        </p:txBody>
      </p:sp>
      <p:pic>
        <p:nvPicPr>
          <p:cNvPr id="3" name="Picture 2" descr="chart_6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681953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</a:defRPr>
            </a:pPr>
            <a:r>
              <a:t>BarChart - Sports Division</a:t>
            </a:r>
          </a:p>
        </p:txBody>
      </p:sp>
      <p:pic>
        <p:nvPicPr>
          <p:cNvPr id="3" name="Picture 2" descr="chart_6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35518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</a:defRPr>
            </a:pPr>
            <a:r>
              <a:t>BarChart - Sports Division</a:t>
            </a:r>
          </a:p>
        </p:txBody>
      </p:sp>
      <p:pic>
        <p:nvPicPr>
          <p:cNvPr id="3" name="Picture 2" descr="chart_6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82412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41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AreaChart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A78BFA"/>
                </a:solidFill>
              </a:defRPr>
            </a:pPr>
            <a:r>
              <a:t>1 chart(s) • 31 rows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AreaChart - Data Overview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914400"/>
          <a:ext cx="84124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</a:tblGrid>
              <a:tr h="25146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Month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Sales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2014-01-01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1591172.0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January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June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Home Product Sales - January 2014 - June 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2014-02-01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1595590.0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2014-03-01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1664153.0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2014-04-01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2482664.0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2014-05-01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2668282.0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2014-06-01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5080792.0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2014-07-01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3359132.0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2014-08-01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6987794.0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2014-09-01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7728080.0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2014-10-01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6036958.0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2014-11-01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5483065.0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2014-12-01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8549949.0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2015-01-01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8236602.0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2015-02-01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8829099.0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2015-03-01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6922595.0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2015-04-01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13083902.0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2015-05-01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8229279.0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2015-06-01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12350562.0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2015-07-01 00:00:00+00:00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8244997.0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035040"/>
            <a:ext cx="8412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748B"/>
                </a:solidFill>
              </a:defRPr>
            </a:pPr>
            <a:r>
              <a:t>Showing 20 of 31 rows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</a:defRPr>
            </a:pPr>
            <a:r>
              <a:t>AreaChart - Home Product Sales - January 2014 - June 2016</a:t>
            </a:r>
          </a:p>
        </p:txBody>
      </p:sp>
      <p:pic>
        <p:nvPicPr>
          <p:cNvPr id="3" name="Picture 2" descr="chart_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1871251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41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Scatter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A78BFA"/>
                </a:solidFill>
              </a:defRPr>
            </a:pPr>
            <a:r>
              <a:t>2 chart(s) • 100 rows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Scatter Chart - Data Overview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914400"/>
          <a:ext cx="84124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</a:tblGrid>
              <a:tr h="25146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Age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Time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10K Race Results - 99 Participants - Age vs Time C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0.03181712962962963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0.03302083333333333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0.0798611111111111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0.0332175925925926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0.03125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0.03373842592592593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0.006944444444444444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0.03454861111111111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0.03474537037037037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0.035034722222222224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0.03512731481481481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0.035833333333333335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0.03703703703703704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0.03729166666666667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0.03736111111111111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0.03738425925925926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0.037800925925925925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0.03787037037037037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0.03810185185185185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0.03819444444444444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0.038622685185185184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035040"/>
            <a:ext cx="8412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748B"/>
                </a:solidFill>
              </a:defRPr>
            </a:pPr>
            <a:r>
              <a:t>Showing 20 of 100 rows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</a:defRPr>
            </a:pPr>
            <a:r>
              <a:t>Scatter Chart - Time</a:t>
            </a:r>
          </a:p>
        </p:txBody>
      </p:sp>
      <p:pic>
        <p:nvPicPr>
          <p:cNvPr id="3" name="Picture 2" descr="chart_8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905256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</a:defRPr>
            </a:pPr>
            <a:r>
              <a:t>Scatter Chart - Time</a:t>
            </a:r>
          </a:p>
        </p:txBody>
      </p:sp>
      <p:pic>
        <p:nvPicPr>
          <p:cNvPr id="3" name="Picture 2" descr="chart_8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905256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41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Combo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A78BFA"/>
                </a:solidFill>
              </a:defRPr>
            </a:pPr>
            <a:r>
              <a:t>1 chart(s) • 13 rows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Combo - Data Overview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914400"/>
          <a:ext cx="84124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160"/>
                <a:gridCol w="2804160"/>
                <a:gridCol w="2804160"/>
              </a:tblGrid>
              <a:tr h="386861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Month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Miles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MPG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8670.0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24.5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6396.0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22.3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8304.0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25.9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4797.0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37.1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8826.0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18.0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6675.0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21.5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8616.0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15.5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7512.0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25.5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5001.0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20.0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Oct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5718.0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29.0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5226.0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26.4</a:t>
                      </a:r>
                    </a:p>
                  </a:txBody>
                  <a:tcPr/>
                </a:tc>
              </a:tr>
              <a:tr h="386868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Dec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5943.0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23.3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</a:defRPr>
            </a:pPr>
            <a:r>
              <a:t>Combo - Chart 1</a:t>
            </a:r>
          </a:p>
        </p:txBody>
      </p:sp>
      <p:pic>
        <p:nvPicPr>
          <p:cNvPr id="3" name="Picture 2" descr="chart_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776203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41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TreeMap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A78BFA"/>
                </a:solidFill>
              </a:defRPr>
            </a:pPr>
            <a:r>
              <a:t>2 chart(s) • 34 rows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TreeMap - Data Overview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914400"/>
          <a:ext cx="84124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160"/>
                <a:gridCol w="2804160"/>
                <a:gridCol w="2804160"/>
              </a:tblGrid>
              <a:tr h="25146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Department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Comp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Contract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990708.0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Full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1488549.0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Half-Time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428420.0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Hourly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252009.0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Executive 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Contract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425155.0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Executive 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Full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215371.0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Executive 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Half-Time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42861.0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Executive 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Hourly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90194.0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Logistics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Contract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375989.0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Logistics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Full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1006681.0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Logistics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Half-Time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264615.0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Manufacturing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Contract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2402201.0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Manufacturing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Full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4079383.0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Manufacturing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Half-Time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593051.0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Manufacturing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Hourly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628511.0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Operations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Contract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315705.0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Operations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Full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1073859.0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Operations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Half-Time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603057.0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Peptide Chemistry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Contract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384636.0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035040"/>
            <a:ext cx="8412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748B"/>
                </a:solidFill>
              </a:defRPr>
            </a:pPr>
            <a:r>
              <a:t>Showing 20 of 34 rows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</a:defRPr>
            </a:pPr>
            <a:r>
              <a:t>TreeMap - Chart Title</a:t>
            </a:r>
          </a:p>
        </p:txBody>
      </p:sp>
      <p:pic>
        <p:nvPicPr>
          <p:cNvPr id="3" name="Picture 2" descr="chart_1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69416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</a:defRPr>
            </a:pPr>
            <a:r>
              <a:t>TreeMap - Chart Title</a:t>
            </a:r>
          </a:p>
        </p:txBody>
      </p:sp>
      <p:pic>
        <p:nvPicPr>
          <p:cNvPr id="3" name="Picture 2" descr="chart_10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6912331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41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Sunburst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A78BFA"/>
                </a:solidFill>
              </a:defRPr>
            </a:pPr>
            <a:r>
              <a:t>2 chart(s) • 30 rows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Sunburst - Data Overview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914400"/>
          <a:ext cx="84124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160"/>
                <a:gridCol w="2804160"/>
                <a:gridCol w="2804160"/>
              </a:tblGrid>
              <a:tr h="25146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Department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Comp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Contract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990708.0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Logistics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375989.0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Manufacturing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2402201.0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Operations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315705.0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Peptide Chemistry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384636.0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Process Development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385199.0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Quality Assurance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579079.0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Quality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1661631.0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1488549.0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Full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Logistics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1006681.0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Manufacturing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4079383.0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Operations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1073859.0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Peptide Chemistry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350899.0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Process Development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1204283.0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Quality Assurance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2382635.0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Quality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2310852.0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428420.0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Logistics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264615.0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Half-Time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Manufacturing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593051.0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035040"/>
            <a:ext cx="8412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748B"/>
                </a:solidFill>
              </a:defRPr>
            </a:pPr>
            <a:r>
              <a:t>Showing 20 of 30 rows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</a:defRPr>
            </a:pPr>
            <a:r>
              <a:t>Sunburst - Chart Title</a:t>
            </a:r>
          </a:p>
        </p:txBody>
      </p:sp>
      <p:pic>
        <p:nvPicPr>
          <p:cNvPr id="3" name="Picture 2" descr="chart_1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7037127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</a:defRPr>
            </a:pPr>
            <a:r>
              <a:t>Sunburst - Chart 2</a:t>
            </a:r>
          </a:p>
        </p:txBody>
      </p:sp>
      <p:pic>
        <p:nvPicPr>
          <p:cNvPr id="3" name="Picture 2" descr="chart_11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6841808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41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YearData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A78BFA"/>
                </a:solidFill>
              </a:defRPr>
            </a:pPr>
            <a:r>
              <a:t>4 chart(s) • 31 rows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YearData - Data Overview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914400"/>
          <a:ext cx="84124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</a:tblGrid>
              <a:tr h="25146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World-wide Sales - Millions of Dollars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Domestic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Asia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268.0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353.0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327.0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368.0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378.0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179.0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422.0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194.0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469.0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215.0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166.0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517.0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162.0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189.0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495.0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Oct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213.0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187.0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534.0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256.0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193.0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577.0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Dec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308.0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654.0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2170.0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1849.0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5362.0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% of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0.4046997389033943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0.25046624393882877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0.34483401715777695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035040"/>
            <a:ext cx="8412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748B"/>
                </a:solidFill>
              </a:defRPr>
            </a:pPr>
            <a:r>
              <a:t>Showing 20 of 31 rows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</a:defRPr>
            </a:pPr>
            <a:r>
              <a:t>YearData - Chart 1</a:t>
            </a:r>
          </a:p>
        </p:txBody>
      </p:sp>
      <p:pic>
        <p:nvPicPr>
          <p:cNvPr id="3" name="Picture 2" descr="chart_1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62257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</a:defRPr>
            </a:pPr>
            <a:r>
              <a:t>YearData - Chart 2</a:t>
            </a:r>
          </a:p>
        </p:txBody>
      </p:sp>
      <p:pic>
        <p:nvPicPr>
          <p:cNvPr id="3" name="Picture 2" descr="chart_12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40594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</a:defRPr>
            </a:pPr>
            <a:r>
              <a:t>YearData - Chart 3</a:t>
            </a:r>
          </a:p>
        </p:txBody>
      </p:sp>
      <p:pic>
        <p:nvPicPr>
          <p:cNvPr id="3" name="Picture 2" descr="chart_12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87505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</a:defRPr>
            </a:pPr>
            <a:r>
              <a:t>YearData - Domestic</a:t>
            </a:r>
          </a:p>
        </p:txBody>
      </p:sp>
      <p:pic>
        <p:nvPicPr>
          <p:cNvPr id="3" name="Picture 2" descr="chart_12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100136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41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CitySales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A78BFA"/>
                </a:solidFill>
              </a:defRPr>
            </a:pPr>
            <a:r>
              <a:t>1 chart(s) • 32 rows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CitySales - Data Overview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914400"/>
          <a:ext cx="84124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  <a:gridCol w="841248"/>
              </a:tblGrid>
              <a:tr h="25146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Sales First Quarter - by Item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Item 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Boston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New York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Chicago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Houston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Denver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Seattle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Los Angeles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Couches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50559.0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32050.0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41185.0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41558.0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45821.0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39713.0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40960.0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Side Chairs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39758.0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48144.0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57530.0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64244.0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57438.0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66093.0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66117.0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Dining Tables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82217.0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77194.0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57263.0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49674.0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71756.0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46135.0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53910.0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Dining Chairs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57714.0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60781.0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65965.0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48510.0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79353.0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46152.0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63273.0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Beds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48845.0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55733.0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52822.0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48128.0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48566.0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53314.0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49278.0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Desks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42815.0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48405.0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33410.0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57828.0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34310.0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27535.0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39670.0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Living Room Chairs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44270.0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35999.0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38020.0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59020.0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40304.0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22383.0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50602.0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Coffee Tables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59937.0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35476.0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69535.0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46755.0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30007.0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59995.0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35520.0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035040"/>
            <a:ext cx="8412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748B"/>
                </a:solidFill>
              </a:defRPr>
            </a:pPr>
            <a:r>
              <a:t>Showing 20 of 32 rows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</a:defRPr>
            </a:pPr>
            <a:r>
              <a:t>CitySales - Sales First Quarter - by Item</a:t>
            </a:r>
          </a:p>
        </p:txBody>
      </p:sp>
      <p:pic>
        <p:nvPicPr>
          <p:cNvPr id="3" name="Picture 2" descr="chart_1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375552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41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Sheet1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A78BFA"/>
                </a:solidFill>
              </a:defRPr>
            </a:pPr>
            <a:r>
              <a:t>0 chart(s) • 1 rows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Sheet1 - Data Overview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914400"/>
          <a:ext cx="84124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12480"/>
              </a:tblGrid>
              <a:tr h="50292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