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Excel Charts &amp; Data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A78BFA"/>
                </a:solidFill>
              </a:defRPr>
            </a:pPr>
            <a:r>
              <a:t>Ch_01_ChartEssentials_test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341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DataSelection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A78BFA"/>
                </a:solidFill>
              </a:defRPr>
            </a:pPr>
            <a:r>
              <a:t>1 chart(s) in this sheet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293B"/>
                </a:solidFill>
              </a:defRPr>
            </a:pPr>
            <a:r>
              <a:t>DataSelection - Regional Sales_x000D_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341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ChartData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A78BFA"/>
                </a:solidFill>
              </a:defRPr>
            </a:pPr>
            <a:r>
              <a:t>1 chart(s) in this sheet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293B"/>
                </a:solidFill>
              </a:defRPr>
            </a:pPr>
            <a:r>
              <a:t>ChartData - Sports Division</a:t>
            </a:r>
          </a:p>
        </p:txBody>
      </p:sp>
      <p:pic>
        <p:nvPicPr>
          <p:cNvPr id="3" name="Picture 2" descr="chart_2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9308432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341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ColumnChart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A78BFA"/>
                </a:solidFill>
              </a:defRPr>
            </a:pPr>
            <a:r>
              <a:t>6 chart(s) in this sheet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293B"/>
                </a:solidFill>
              </a:defRPr>
            </a:pPr>
            <a:r>
              <a:t>ColumnChart - Regional Sales_x000D_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293B"/>
                </a:solidFill>
              </a:defRPr>
            </a:pPr>
            <a:r>
              <a:t>ColumnChart - Taylor Associates Home Products</a:t>
            </a:r>
          </a:p>
        </p:txBody>
      </p:sp>
      <p:pic>
        <p:nvPicPr>
          <p:cNvPr id="3" name="Picture 2" descr="chart_3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7978758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293B"/>
                </a:solidFill>
              </a:defRPr>
            </a:pPr>
            <a:r>
              <a:t>ColumnChart - Taylor Associates Home Products</a:t>
            </a:r>
          </a:p>
        </p:txBody>
      </p:sp>
      <p:pic>
        <p:nvPicPr>
          <p:cNvPr id="3" name="Picture 2" descr="chart_3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6786067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293B"/>
                </a:solidFill>
              </a:defRPr>
            </a:pPr>
            <a:r>
              <a:t>ColumnChart - Taylor Associates Home Products</a:t>
            </a:r>
          </a:p>
        </p:txBody>
      </p:sp>
      <p:pic>
        <p:nvPicPr>
          <p:cNvPr id="3" name="Picture 2" descr="chart_3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7950672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293B"/>
                </a:solidFill>
              </a:defRPr>
            </a:pPr>
            <a:r>
              <a:t>ColumnChart - Taylor Associates Home Products</a:t>
            </a:r>
          </a:p>
        </p:txBody>
      </p:sp>
      <p:pic>
        <p:nvPicPr>
          <p:cNvPr id="3" name="Picture 2" descr="chart_3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7868907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293B"/>
                </a:solidFill>
              </a:defRPr>
            </a:pPr>
            <a:r>
              <a:t>ColumnChart - Taylor Associates Home Products</a:t>
            </a:r>
          </a:p>
        </p:txBody>
      </p:sp>
      <p:pic>
        <p:nvPicPr>
          <p:cNvPr id="3" name="Picture 2" descr="chart_3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7967455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341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Line Chart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A78BFA"/>
                </a:solidFill>
              </a:defRPr>
            </a:pPr>
            <a:r>
              <a:t>1 chart(s) in this sheet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293B"/>
                </a:solidFill>
              </a:defRPr>
            </a:pPr>
            <a:r>
              <a:t>Line Chart - Home Product Sales - January 2018 - June 2020</a:t>
            </a:r>
          </a:p>
        </p:txBody>
      </p:sp>
      <p:pic>
        <p:nvPicPr>
          <p:cNvPr id="3" name="Picture 2" descr="chart_4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10071197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341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PieChart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A78BFA"/>
                </a:solidFill>
              </a:defRPr>
            </a:pPr>
            <a:r>
              <a:t>3 chart(s) in this sheet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293B"/>
                </a:solidFill>
              </a:defRPr>
            </a:pPr>
            <a:r>
              <a:t>PieChart - Regional Sales_x000D_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293B"/>
                </a:solidFill>
              </a:defRPr>
            </a:pPr>
            <a:r>
              <a:t>PieChart - Domestic  Sales in Millions</a:t>
            </a:r>
          </a:p>
        </p:txBody>
      </p:sp>
      <p:pic>
        <p:nvPicPr>
          <p:cNvPr id="3" name="Picture 2" descr="chart_5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11294628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293B"/>
                </a:solidFill>
              </a:defRPr>
            </a:pPr>
            <a:r>
              <a:t>PieChart - Domestic  Sales in Millions</a:t>
            </a:r>
          </a:p>
        </p:txBody>
      </p:sp>
      <p:pic>
        <p:nvPicPr>
          <p:cNvPr id="3" name="Picture 2" descr="chart_5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9408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341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BarChart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A78BFA"/>
                </a:solidFill>
              </a:defRPr>
            </a:pPr>
            <a:r>
              <a:t>5 chart(s) in this sheet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293B"/>
                </a:solidFill>
              </a:defRPr>
            </a:pPr>
            <a:r>
              <a:t>BarChart - Regional Sales_x000D_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293B"/>
                </a:solidFill>
              </a:defRPr>
            </a:pPr>
            <a:r>
              <a:t>BarChart - Sports Division</a:t>
            </a:r>
          </a:p>
        </p:txBody>
      </p:sp>
      <p:pic>
        <p:nvPicPr>
          <p:cNvPr id="3" name="Picture 2" descr="chart_6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920507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293B"/>
                </a:solidFill>
              </a:defRPr>
            </a:pPr>
            <a:r>
              <a:t>BarChart - Sports Division</a:t>
            </a:r>
          </a:p>
        </p:txBody>
      </p:sp>
      <p:pic>
        <p:nvPicPr>
          <p:cNvPr id="3" name="Picture 2" descr="chart_6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681953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293B"/>
                </a:solidFill>
              </a:defRPr>
            </a:pPr>
            <a:r>
              <a:t>BarChart - Sports Division</a:t>
            </a:r>
          </a:p>
        </p:txBody>
      </p:sp>
      <p:pic>
        <p:nvPicPr>
          <p:cNvPr id="3" name="Picture 2" descr="chart_6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35518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293B"/>
                </a:solidFill>
              </a:defRPr>
            </a:pPr>
            <a:r>
              <a:t>BarChart - Sports Division</a:t>
            </a:r>
          </a:p>
        </p:txBody>
      </p:sp>
      <p:pic>
        <p:nvPicPr>
          <p:cNvPr id="3" name="Picture 2" descr="chart_6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82412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341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AreaChart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A78BFA"/>
                </a:solidFill>
              </a:defRPr>
            </a:pPr>
            <a:r>
              <a:t>1 chart(s) in this sheet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293B"/>
                </a:solidFill>
              </a:defRPr>
            </a:pPr>
            <a:r>
              <a:t>AreaChart - Home Product Sales - January 2014 - June 2016</a:t>
            </a:r>
          </a:p>
        </p:txBody>
      </p:sp>
      <p:pic>
        <p:nvPicPr>
          <p:cNvPr id="3" name="Picture 2" descr="chart_7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11871251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341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Scatter Chart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A78BFA"/>
                </a:solidFill>
              </a:defRPr>
            </a:pPr>
            <a:r>
              <a:t>2 chart(s) in this sheet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293B"/>
                </a:solidFill>
              </a:defRPr>
            </a:pPr>
            <a:r>
              <a:t>Scatter Chart - Time</a:t>
            </a:r>
          </a:p>
        </p:txBody>
      </p:sp>
      <p:pic>
        <p:nvPicPr>
          <p:cNvPr id="3" name="Picture 2" descr="chart_8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905256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293B"/>
                </a:solidFill>
              </a:defRPr>
            </a:pPr>
            <a:r>
              <a:t>Scatter Chart - Time</a:t>
            </a:r>
          </a:p>
        </p:txBody>
      </p:sp>
      <p:pic>
        <p:nvPicPr>
          <p:cNvPr id="3" name="Picture 2" descr="chart_8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905256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341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Combo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A78BFA"/>
                </a:solidFill>
              </a:defRPr>
            </a:pPr>
            <a:r>
              <a:t>1 chart(s) in this sheet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293B"/>
                </a:solidFill>
              </a:defRPr>
            </a:pPr>
            <a:r>
              <a:t>Combo - Chart 1</a:t>
            </a:r>
          </a:p>
        </p:txBody>
      </p:sp>
      <p:pic>
        <p:nvPicPr>
          <p:cNvPr id="3" name="Picture 2" descr="chart_9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776203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341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TreeMap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A78BFA"/>
                </a:solidFill>
              </a:defRPr>
            </a:pPr>
            <a:r>
              <a:t>2 chart(s) in this sheet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293B"/>
                </a:solidFill>
              </a:defRPr>
            </a:pPr>
            <a:r>
              <a:t>TreeMap - Chart Title</a:t>
            </a:r>
          </a:p>
        </p:txBody>
      </p:sp>
      <p:pic>
        <p:nvPicPr>
          <p:cNvPr id="3" name="Picture 2" descr="chart_10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3669416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293B"/>
                </a:solidFill>
              </a:defRPr>
            </a:pPr>
            <a:r>
              <a:t>TreeMap - Chart Title</a:t>
            </a:r>
          </a:p>
        </p:txBody>
      </p:sp>
      <p:pic>
        <p:nvPicPr>
          <p:cNvPr id="3" name="Picture 2" descr="chart_10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6912331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341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Sunburst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A78BFA"/>
                </a:solidFill>
              </a:defRPr>
            </a:pPr>
            <a:r>
              <a:t>2 chart(s) in this sheet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293B"/>
                </a:solidFill>
              </a:defRPr>
            </a:pPr>
            <a:r>
              <a:t>Sunburst - Chart Title</a:t>
            </a:r>
          </a:p>
        </p:txBody>
      </p:sp>
      <p:pic>
        <p:nvPicPr>
          <p:cNvPr id="3" name="Picture 2" descr="chart_11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7037127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293B"/>
                </a:solidFill>
              </a:defRPr>
            </a:pPr>
            <a:r>
              <a:t>Sunburst - Chart 2</a:t>
            </a:r>
          </a:p>
        </p:txBody>
      </p:sp>
      <p:pic>
        <p:nvPicPr>
          <p:cNvPr id="3" name="Picture 2" descr="chart_11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6841808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341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YearData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A78BFA"/>
                </a:solidFill>
              </a:defRPr>
            </a:pPr>
            <a:r>
              <a:t>4 chart(s) in this sheet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293B"/>
                </a:solidFill>
              </a:defRPr>
            </a:pPr>
            <a:r>
              <a:t>YearData - Chart 1</a:t>
            </a:r>
          </a:p>
        </p:txBody>
      </p:sp>
      <p:pic>
        <p:nvPicPr>
          <p:cNvPr id="3" name="Picture 2" descr="chart_12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62257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293B"/>
                </a:solidFill>
              </a:defRPr>
            </a:pPr>
            <a:r>
              <a:t>YearData - Chart 2</a:t>
            </a:r>
          </a:p>
        </p:txBody>
      </p:sp>
      <p:pic>
        <p:nvPicPr>
          <p:cNvPr id="3" name="Picture 2" descr="chart_12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405949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293B"/>
                </a:solidFill>
              </a:defRPr>
            </a:pPr>
            <a:r>
              <a:t>YearData - Chart 3</a:t>
            </a:r>
          </a:p>
        </p:txBody>
      </p:sp>
      <p:pic>
        <p:nvPicPr>
          <p:cNvPr id="3" name="Picture 2" descr="chart_12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875059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293B"/>
                </a:solidFill>
              </a:defRPr>
            </a:pPr>
            <a:r>
              <a:t>YearData - Domestic</a:t>
            </a:r>
          </a:p>
        </p:txBody>
      </p:sp>
      <p:pic>
        <p:nvPicPr>
          <p:cNvPr id="3" name="Picture 2" descr="chart_12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10100136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341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CitySales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A78BFA"/>
                </a:solidFill>
              </a:defRPr>
            </a:pPr>
            <a:r>
              <a:t>1 chart(s) in this sheet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293B"/>
                </a:solidFill>
              </a:defRPr>
            </a:pPr>
            <a:r>
              <a:t>CitySales - Sales First Quarter - by Item</a:t>
            </a:r>
          </a:p>
        </p:txBody>
      </p:sp>
      <p:pic>
        <p:nvPicPr>
          <p:cNvPr id="3" name="Picture 2" descr="chart_13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375552" cy="5029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