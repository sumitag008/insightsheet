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6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 vs Miles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Miles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98-4FBC-9D0A-F35DBE95ED6F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98-4FBC-9D0A-F35DBE95ED6F}"/>
              </c:ext>
            </c:extLst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98-4FBC-9D0A-F35DBE95ED6F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98-4FBC-9D0A-F35DBE95ED6F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098-4FBC-9D0A-F35DBE95ED6F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098-4FBC-9D0A-F35DBE95ED6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098-4FBC-9D0A-F35DBE95ED6F}"/>
              </c:ext>
            </c:extLst>
          </c:dPt>
          <c:dPt>
            <c:idx val="7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098-4FBC-9D0A-F35DBE95ED6F}"/>
              </c:ext>
            </c:extLst>
          </c:dPt>
          <c:dPt>
            <c:idx val="8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098-4FBC-9D0A-F35DBE95ED6F}"/>
              </c:ext>
            </c:extLst>
          </c:dPt>
          <c:dPt>
            <c:idx val="9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6098-4FBC-9D0A-F35DBE95ED6F}"/>
              </c:ext>
            </c:extLst>
          </c:dPt>
          <c:dPt>
            <c:idx val="1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6098-4FBC-9D0A-F35DBE95ED6F}"/>
              </c:ext>
            </c:extLst>
          </c:dPt>
          <c:dPt>
            <c:idx val="1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6098-4FBC-9D0A-F35DBE95ED6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May</c:v>
                </c:pt>
                <c:pt idx="1">
                  <c:v>Jan</c:v>
                </c:pt>
                <c:pt idx="2">
                  <c:v>Jul</c:v>
                </c:pt>
                <c:pt idx="3">
                  <c:v>Mar</c:v>
                </c:pt>
                <c:pt idx="4">
                  <c:v>Aug</c:v>
                </c:pt>
                <c:pt idx="5">
                  <c:v>Jun</c:v>
                </c:pt>
                <c:pt idx="6">
                  <c:v>Feb</c:v>
                </c:pt>
                <c:pt idx="7">
                  <c:v>Dec</c:v>
                </c:pt>
                <c:pt idx="8">
                  <c:v>Oct</c:v>
                </c:pt>
                <c:pt idx="9">
                  <c:v>Nov</c:v>
                </c:pt>
                <c:pt idx="10">
                  <c:v>Sep</c:v>
                </c:pt>
                <c:pt idx="11">
                  <c:v>Apr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8826</c:v>
                </c:pt>
                <c:pt idx="1">
                  <c:v>8670</c:v>
                </c:pt>
                <c:pt idx="2">
                  <c:v>8616</c:v>
                </c:pt>
                <c:pt idx="3">
                  <c:v>8304</c:v>
                </c:pt>
                <c:pt idx="4">
                  <c:v>7512</c:v>
                </c:pt>
                <c:pt idx="5">
                  <c:v>6675</c:v>
                </c:pt>
                <c:pt idx="6">
                  <c:v>6396</c:v>
                </c:pt>
                <c:pt idx="7">
                  <c:v>5943</c:v>
                </c:pt>
                <c:pt idx="8">
                  <c:v>5718</c:v>
                </c:pt>
                <c:pt idx="9">
                  <c:v>5226</c:v>
                </c:pt>
                <c:pt idx="10">
                  <c:v>5001</c:v>
                </c:pt>
                <c:pt idx="11">
                  <c:v>4797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6098-4FBC-9D0A-F35DBE95ED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708.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 vs MPG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MPG</c:v>
                </c:pt>
              </c:strCache>
            </c:strRef>
          </c:tx>
          <c:spPr>
            <a:ln w="25400" cap="flat">
              <a:solidFill>
                <a:srgbClr val="6366F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Oct</c:v>
                </c:pt>
                <c:pt idx="2">
                  <c:v>Nov</c:v>
                </c:pt>
                <c:pt idx="3">
                  <c:v>Mar</c:v>
                </c:pt>
                <c:pt idx="4">
                  <c:v>Aug</c:v>
                </c:pt>
                <c:pt idx="5">
                  <c:v>Jan</c:v>
                </c:pt>
                <c:pt idx="6">
                  <c:v>Dec</c:v>
                </c:pt>
                <c:pt idx="7">
                  <c:v>Feb</c:v>
                </c:pt>
                <c:pt idx="8">
                  <c:v>Jun</c:v>
                </c:pt>
                <c:pt idx="9">
                  <c:v>Sep</c:v>
                </c:pt>
                <c:pt idx="10">
                  <c:v>May</c:v>
                </c:pt>
                <c:pt idx="11">
                  <c:v>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37.1</c:v>
                </c:pt>
                <c:pt idx="1">
                  <c:v>29</c:v>
                </c:pt>
                <c:pt idx="2">
                  <c:v>26.4</c:v>
                </c:pt>
                <c:pt idx="3">
                  <c:v>25.9</c:v>
                </c:pt>
                <c:pt idx="4">
                  <c:v>25.5</c:v>
                </c:pt>
                <c:pt idx="5">
                  <c:v>24.5</c:v>
                </c:pt>
                <c:pt idx="6">
                  <c:v>23.3</c:v>
                </c:pt>
                <c:pt idx="7">
                  <c:v>22.3</c:v>
                </c:pt>
                <c:pt idx="8">
                  <c:v>21.5</c:v>
                </c:pt>
                <c:pt idx="9">
                  <c:v>20</c:v>
                </c:pt>
                <c:pt idx="10">
                  <c:v>18</c:v>
                </c:pt>
                <c:pt idx="11">
                  <c:v>15.5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66-45A4-8C5B-CA28207D26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.8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53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Excel Charts &amp; Data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78BFA"/>
                </a:solidFill>
              </a:rPr>
              <a:t>Ch_01_ChartEssentials_test1.0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Generated by InsightSheet-lite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19/03/2026, 14:48:02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DataSelection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14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DataSelection - Data Overview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World-wide Sales - Millions of Dollars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Europe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Asia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Feb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Apr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ChartData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8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ChartData - Data Overview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Sports Division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Europe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Asia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ColumnChart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8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ColumnChart - Data Overview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Taylor Associates Home Products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Europe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Asia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Line 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30 rows • 2 columns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Line Chart - Data Overview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Month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Sales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43101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1592398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43132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1597197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43160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1666080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43191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2484340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43221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2669994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43252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5081937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43282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3360840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43313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6989238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43344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7729650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43374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6038549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43405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5484312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43435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8551452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43466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8238174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43497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8831025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43525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6924096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43556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13085376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43586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8230572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43617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12352014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43647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8246180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43678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12531645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Showing 20 of 30 rows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PieChart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7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PieChart - Data Overview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World-wide Sales - Millions of Dollars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Europe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Asia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BarChart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8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BarChart - Data Overview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Sports Division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Europe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Asia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AreaChart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30 rows • 2 columns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AreaChart - Data Overview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Month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Sales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41640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1591172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41671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1595590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41699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1664153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41730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2482664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41760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2668282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41791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5080792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41821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3359132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41852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6987794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41883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7728080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41913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6036958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41944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5483065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41974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8549949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42005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8236602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42036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8829099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42064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6922595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42095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13083902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42125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8229279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42156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12350562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42186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8244997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42217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12530449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Showing 20 of 30 rows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Scatter 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99 rows • 3 columns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Scatter Chart - Data Overview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10K Race Results - 99 Participants - Age vs Time Comparison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0.03181712962962963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0.03302083333333333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0.0332175925925926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0.03373842592592593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0.03454861111111111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0.03474537037037037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0.035034722222222224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0.03512731481481481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0.035833333333333335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0.03703703703703704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0.03729166666666667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0.03736111111111111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0.03738425925925926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0.037800925925925925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0.03787037037037037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0.03810185185185185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0.03819444444444444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0.038622685185185184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0.0390625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Showing 20 of 99 rows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Scatter Chart - Statistical Summary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4572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Std Dev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36.95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22.00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70.00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9.19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Combo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2 chart(s) • 12 rows • 3 columns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Combo - Data Overview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Month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Miles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MPG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8670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Feb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6396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22.3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8304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Apr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4797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37.1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8826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6675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21.5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8616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7512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Sep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5001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5718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Nov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5226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5943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23.3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Combo - Bar Chart (1/2)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8229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12080"/>
          <a:ext cx="3657600" cy="1188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8826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8670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8616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8304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7512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6675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Feb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6396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5943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Combo - Line Chart (2/2)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8229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12080"/>
          <a:ext cx="3657600" cy="1188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Apr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37.1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Nov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23.3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Feb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22.3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Combo - Statistical Summary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4572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Std Dev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Miles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6807.00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4797.00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8826.00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1457.10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MPG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24.08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15.50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37.10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5.34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TreeMap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33 rows • 3 columns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TreeMap - Data Overview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Department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Comp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990708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1488549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428420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Hourly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252009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Executive Education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425155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Executive Education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215371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Executive Education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42861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Executive Education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Hourly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90194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375989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1006681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264615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2402201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4079383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593051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Hourly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628511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315705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1073859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603057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Peptide Chemistry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384636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Peptide Chemistry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350899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Showing 20 of 33 rows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Sunburst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29 rows • 3 columns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Sunburst - Data Overview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6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Department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Comp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990708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375989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2402201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315705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Peptide Chemistry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384636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Process Development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385199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Quality Assurance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579079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Quality Control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1661631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1488549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1006681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4079383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1073859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Peptide Chemistry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350899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Process Development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1204283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Quality Assurance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2382635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Quality Control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2310852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428420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264615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593051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603057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Showing 20 of 29 rows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YearData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15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YearData - Data Overview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World-wide Sales - Millions of Dollars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Feb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Apr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Sep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Nov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% of Total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CitySales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9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CitySales - Data Overview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Sales First Quarter - by Item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Item #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Couches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Side Chairs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Dining Tables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Dining Chairs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Beds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Desks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Living Room Chairs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Coffee Tables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</Words>
  <Application>Microsoft Office PowerPoint</Application>
  <PresentationFormat>On-screen Show (16:9)</PresentationFormat>
  <Paragraphs>498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Ch_01_ChartEssentials_test1.0</dc:title>
  <dc:subject>Generated from Excel</dc:subject>
  <dc:creator>InsightSheet-lite</dc:creator>
  <cp:lastModifiedBy>Sumit A</cp:lastModifiedBy>
  <cp:revision>1</cp:revision>
  <dcterms:created xsi:type="dcterms:W3CDTF">2026-03-19T14:48:02Z</dcterms:created>
  <dcterms:modified xsi:type="dcterms:W3CDTF">2026-03-19T14:51:02Z</dcterms:modified>
</cp:coreProperties>
</file>